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63" r:id="rId19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Customer data flows into a risk score, the score triggers a matching action, and outcomes feed back into the model.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Agentic AI acts within set limits and escalates to a human whenever the impact on the customer is high.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These guardrails respond to the fairness risks raised in Task 3: proxy bias and unreliable small segments.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Quantitative gains are goals to test in the pilot; qualitative benefits come from earlier, fairer, better-explained outreach.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Thresholds are set after validating the model. The pilot from Task 3 targets the high-risk segment first.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How the System Works (1/2): From Data to Action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4048" y="1280160"/>
            <a:ext cx="1883664" cy="3108960"/>
          </a:xfrm>
          <a:prstGeom prst="roundRect">
            <a:avLst/>
          </a:prstGeom>
          <a:solidFill>
            <a:srgbClr val="0F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9BD35A"/>
                </a:solidFill>
              </a:rPr>
              <a:t>1  Inputs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Repayment history (Month_1-6, missed payments)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Credit utilization, debt-to-income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Employment status, income, tenure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Card type; IDs pseudonymised</a:t>
            </a:r>
          </a:p>
        </p:txBody>
      </p:sp>
      <p:sp>
        <p:nvSpPr>
          <p:cNvPr id="71" name="Chevron 70"/>
          <p:cNvSpPr/>
          <p:nvPr/>
        </p:nvSpPr>
        <p:spPr>
          <a:xfrm>
            <a:off x="2286000" y="2697480"/>
            <a:ext cx="146304" cy="274320"/>
          </a:xfrm>
          <a:prstGeom prst="chevron">
            <a:avLst/>
          </a:prstGeom>
          <a:solidFill>
            <a:srgbClr val="9BD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450591" y="1280160"/>
            <a:ext cx="1883664" cy="3108960"/>
          </a:xfrm>
          <a:prstGeom prst="roundRect">
            <a:avLst/>
          </a:prstGeom>
          <a:solidFill>
            <a:srgbClr val="0F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9BD35A"/>
                </a:solidFill>
              </a:rPr>
              <a:t>2  Decision Logic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Data checks and cleaning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Logistic regression scores delinquency risk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Business rules add policy limits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Output: risk tier plus top reasons</a:t>
            </a:r>
          </a:p>
        </p:txBody>
      </p:sp>
      <p:sp>
        <p:nvSpPr>
          <p:cNvPr id="73" name="Chevron 72"/>
          <p:cNvSpPr/>
          <p:nvPr/>
        </p:nvSpPr>
        <p:spPr>
          <a:xfrm>
            <a:off x="4352544" y="2697480"/>
            <a:ext cx="146304" cy="274320"/>
          </a:xfrm>
          <a:prstGeom prst="chevron">
            <a:avLst/>
          </a:prstGeom>
          <a:solidFill>
            <a:srgbClr val="9BD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517136" y="1280160"/>
            <a:ext cx="1883664" cy="3108960"/>
          </a:xfrm>
          <a:prstGeom prst="roundRect">
            <a:avLst/>
          </a:prstGeom>
          <a:solidFill>
            <a:srgbClr val="0F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9BD35A"/>
                </a:solidFill>
              </a:rPr>
              <a:t>3  Actions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Low: automated reminder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Medium: personalised SMS/email and payment-plan offer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High: priority outreach and hardship offer, agent-reviewed</a:t>
            </a:r>
          </a:p>
        </p:txBody>
      </p:sp>
      <p:sp>
        <p:nvSpPr>
          <p:cNvPr id="75" name="Chevron 74"/>
          <p:cNvSpPr/>
          <p:nvPr/>
        </p:nvSpPr>
        <p:spPr>
          <a:xfrm>
            <a:off x="6419088" y="2697480"/>
            <a:ext cx="146304" cy="274320"/>
          </a:xfrm>
          <a:prstGeom prst="chevron">
            <a:avLst/>
          </a:prstGeom>
          <a:solidFill>
            <a:srgbClr val="9BD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583679" y="1280160"/>
            <a:ext cx="1883664" cy="3108960"/>
          </a:xfrm>
          <a:prstGeom prst="roundRect">
            <a:avLst/>
          </a:prstGeom>
          <a:solidFill>
            <a:srgbClr val="0F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9BD35A"/>
                </a:solidFill>
              </a:rPr>
              <a:t>4  Learning Loop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Track outcomes: on-time payment, plan take-up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Compare with control group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Retrain and recalibrate quarterly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FFFFFF"/>
                </a:solidFill>
              </a:rPr>
              <a:t>• Review fairness and drift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How the System Works (2/2): Decision Logic by Risk Tier</a:t>
            </a:r>
          </a:p>
        </p:txBody>
      </p: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384048" y="1280160"/>
          <a:ext cx="76809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2468880"/>
                <a:gridCol w="155448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Risk tier</a:t>
                      </a:r>
                    </a:p>
                  </a:txBody>
                  <a:tcPr marL="73152" marR="73152" marT="36576" marB="36576">
                    <a:solidFill>
                      <a:srgbClr val="1E88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Trigger (thresholds set after validation)</a:t>
                      </a:r>
                    </a:p>
                  </a:txBody>
                  <a:tcPr marL="73152" marR="73152" marT="36576" marB="36576">
                    <a:solidFill>
                      <a:srgbClr val="1E88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>
                    <a:solidFill>
                      <a:srgbClr val="1E88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Handled by</a:t>
                      </a:r>
                    </a:p>
                  </a:txBody>
                  <a:tcPr marL="73152" marR="73152" marT="36576" marB="36576">
                    <a:solidFill>
                      <a:srgbClr val="1E88C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</a:rPr>
                        <a:t>Low model score; no recent late payments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</a:rPr>
                        <a:t>Automated payment reminder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Medium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</a:rPr>
                        <a:t>Mid score, or utilization of 50% or more with recent late payments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</a:rPr>
                        <a:t>Personalised SMS/email plus flexible payment-plan offer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</a:rPr>
                        <a:t>System, with monitoring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</a:rPr>
                        <a:t>High score, or unemployed/Business-card customer with utilization of 50% or more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</a:rPr>
                        <a:t>Priority outreach and tailored hardship plan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FFFFF"/>
                          </a:solidFill>
                        </a:rPr>
                        <a:t>Collections agent approves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</a:tr>
            </a:tbl>
          </a:graphicData>
        </a:graphic>
      </p:graphicFrame>
      <p:sp>
        <p:nvSpPr>
          <p:cNvPr id="71" name="Rounded Rectangle 70"/>
          <p:cNvSpPr/>
          <p:nvPr/>
        </p:nvSpPr>
        <p:spPr>
          <a:xfrm>
            <a:off x="384048" y="3520440"/>
            <a:ext cx="7680960" cy="914400"/>
          </a:xfrm>
          <a:prstGeom prst="roundRect">
            <a:avLst/>
          </a:prstGeom>
          <a:solidFill>
            <a:srgbClr val="0F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9BD35A"/>
                </a:solidFill>
              </a:rPr>
              <a:t>Learning loop: </a:t>
            </a:r>
            <a:r>
              <a:rPr sz="1100" b="0">
                <a:solidFill>
                  <a:srgbClr val="FFFFFF"/>
                </a:solidFill>
              </a:rPr>
              <a:t>every contact is logged with its result. Outcomes are compared against a control group, then used to retrain the model and adjust rules each quarter.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Role of Agentic AI: Autonomous vs Human Oversight</a:t>
            </a:r>
          </a:p>
        </p:txBody>
      </p:sp>
      <p:graphicFrame>
        <p:nvGraphicFramePr>
          <p:cNvPr id="82" name="Table 81"/>
          <p:cNvGraphicFramePr>
            <a:graphicFrameLocks noGrp="1"/>
          </p:cNvGraphicFramePr>
          <p:nvPr/>
        </p:nvGraphicFramePr>
        <p:xfrm>
          <a:off x="384048" y="1280160"/>
          <a:ext cx="76809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Autonomous (AI acts alone)</a:t>
                      </a:r>
                    </a:p>
                  </a:txBody>
                  <a:tcPr marL="73152" marR="73152" marT="36576" marB="36576">
                    <a:solidFill>
                      <a:srgbClr val="1E88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Human Oversight (agent decides)</a:t>
                      </a:r>
                    </a:p>
                  </a:txBody>
                  <a:tcPr marL="73152" marR="73152" marT="36576" marB="36576">
                    <a:solidFill>
                      <a:srgbClr val="1E88C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Scoring customers and assigning risk tiers daily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FFFFF"/>
                          </a:solidFill>
                        </a:rPr>
                        <a:t>Approving hardship plans and payment deferrals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Sending reminders by SMS/email at the best time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FFFFF"/>
                          </a:solidFill>
                        </a:rPr>
                        <a:t>Contacting vulnerable or disputed accounts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Choosing message and channel from past results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FFFFF"/>
                          </a:solidFill>
                        </a:rPr>
                        <a:t>Any decision that affects credit terms or fees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Monitoring outcomes, drift and fairness alerts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FFFFF"/>
                          </a:solidFill>
                        </a:rPr>
                        <a:t>Reviewing bias findings; approving model updates</a:t>
                      </a:r>
                    </a:p>
                  </a:txBody>
                  <a:tcPr marL="73152" marR="73152" marT="36576" marB="36576">
                    <a:solidFill>
                      <a:srgbClr val="0F6AA3"/>
                    </a:solidFill>
                  </a:tcPr>
                </a:tc>
              </a:tr>
            </a:tbl>
          </a:graphicData>
        </a:graphic>
      </p:graphicFrame>
      <p:sp>
        <p:nvSpPr>
          <p:cNvPr id="83" name="Rounded Rectangle 82"/>
          <p:cNvSpPr/>
          <p:nvPr/>
        </p:nvSpPr>
        <p:spPr>
          <a:xfrm>
            <a:off x="384048" y="3611880"/>
            <a:ext cx="7680960" cy="777240"/>
          </a:xfrm>
          <a:prstGeom prst="roundRect">
            <a:avLst/>
          </a:prstGeom>
          <a:solidFill>
            <a:srgbClr val="0F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9BD35A"/>
                </a:solidFill>
              </a:rPr>
              <a:t>Principle: </a:t>
            </a:r>
            <a:r>
              <a:rPr sz="1100" b="0">
                <a:solidFill>
                  <a:srgbClr val="FFFFFF"/>
                </a:solidFill>
              </a:rPr>
              <a:t>AI handles routine, low-impact steps at scale; people own high-impact decisions and can override any AI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Responsible AI Guardrails</a:t>
            </a: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1000"/>
              </a:spcAft>
              <a:buNone/>
            </a:pPr>
            <a:r>
              <a:rPr lang="en-GB" sz="1600" dirty="0"/>
              <a:t>List and describe key safeguards you would build into the system to ensure it operates fairly and responsibly, such as:</a:t>
            </a:r>
            <a:r>
              <a:rPr sz="1300" b="1">
                <a:solidFill>
                  <a:srgbClr val="9BD35A"/>
                </a:solidFill>
              </a:rPr>
              <a:t>Fairness: </a:t>
            </a:r>
            <a:r>
              <a:rPr sz="1300" b="0">
                <a:solidFill>
                  <a:srgbClr val="FFFFFF"/>
                </a:solidFill>
              </a:rPr>
              <a:t>exclude Location and Age from scoring; test outcomes by group (disparate impact ratio of 0.8 or higher, recall gaps) before launch and monthly.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Fairness checks to prevent biased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Explainability requirements for transparency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Regulatory compliance with standards like ECOA, GDPR, or local laws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Human-in-the-loop oversight for critical decisions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9BD35A"/>
                </a:solidFill>
              </a:rPr>
              <a:t>Explainability: </a:t>
            </a:r>
            <a:r>
              <a:rPr sz="1300" b="0">
                <a:solidFill>
                  <a:srgbClr val="FFFFFF"/>
                </a:solidFill>
              </a:rPr>
              <a:t>every flag shows its top reasons in plain language (logistic regression coefficients); customers can be told why they were contacted.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9BD35A"/>
                </a:solidFill>
              </a:rPr>
              <a:t>Compliance: </a:t>
            </a:r>
            <a:r>
              <a:rPr sz="1300" b="0">
                <a:solidFill>
                  <a:srgbClr val="FFFFFF"/>
                </a:solidFill>
              </a:rPr>
              <a:t>align with ECOA, fair debt collection rules and GDPR/local privacy law; keep audit logs; collect only necessary data.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9BD35A"/>
                </a:solidFill>
              </a:rPr>
              <a:t>Human oversight: </a:t>
            </a:r>
            <a:r>
              <a:rPr sz="1300" b="0">
                <a:solidFill>
                  <a:srgbClr val="FFFFFF"/>
                </a:solidFill>
              </a:rPr>
              <a:t>review step for high-impact decisions, easy override, and support-first actions with no automatic penalties.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Expected Business Impact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84048" y="1280160"/>
            <a:ext cx="3749039" cy="2743200"/>
          </a:xfrm>
          <a:prstGeom prst="roundRect">
            <a:avLst/>
          </a:prstGeom>
          <a:solidFill>
            <a:srgbClr val="0F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9BD35A"/>
                </a:solidFill>
              </a:rPr>
              <a:t>Business KPIs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FFFFFF"/>
                </a:solidFill>
              </a:rPr>
              <a:t>• 30-day delinquency rate: target 10% relative reduction vs control (pilot)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FFFFFF"/>
                </a:solidFill>
              </a:rPr>
              <a:t>• Higher cure and repayment rates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FFFFFF"/>
                </a:solidFill>
              </a:rPr>
              <a:t>• Lower cost per collected dollar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FFFFFF"/>
                </a:solidFill>
              </a:rPr>
              <a:t>• Fewer agent hours on routine contacts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FFFFFF"/>
                </a:solidFill>
              </a:rPr>
              <a:t>• Model AUC and recall, fairness ratio of 0.8 or higher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315968" y="1280160"/>
            <a:ext cx="3749039" cy="2743200"/>
          </a:xfrm>
          <a:prstGeom prst="roundRect">
            <a:avLst/>
          </a:prstGeom>
          <a:solidFill>
            <a:srgbClr val="0F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9BD35A"/>
                </a:solidFill>
              </a:rPr>
              <a:t>Customer Outcomes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FFFFFF"/>
                </a:solidFill>
              </a:rPr>
              <a:t>• Earlier, supportive contact before accounts fall behind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FFFFFF"/>
                </a:solidFill>
              </a:rPr>
              <a:t>• Clear reasons and flexible payment options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FFFFFF"/>
                </a:solidFill>
              </a:rPr>
              <a:t>• Consistent, fair treatment across groups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FFFFFF"/>
                </a:solidFill>
              </a:rPr>
              <a:t>• Fewer unnecessary or repeated calls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FFFFFF"/>
                </a:solidFill>
              </a:rPr>
              <a:t>• Greater trust in Geldium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84048" y="4114800"/>
            <a:ext cx="7680960" cy="457200"/>
          </a:xfrm>
          <a:prstGeom prst="roundRect">
            <a:avLst/>
          </a:prstGeom>
          <a:solidFill>
            <a:srgbClr val="1E8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</a:rPr>
              <a:t>Targets are pilot goals to be validated on Geldium data, not guaranteed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